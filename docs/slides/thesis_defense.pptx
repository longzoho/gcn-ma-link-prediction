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5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Tái hiện và phân tích so sánh GCN_MA cho dự đoán liên kết trên đồ thị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Đề tài luận văn tốt nghiệp
Tác giả: [Tên]
Giảng viên hướng dẫn: [Tên GVHD]</a:t>
            </a:r>
          </a:p>
        </p:txBody>
      </p:sp>
      <p:pic>
        <p:nvPicPr>
          <p:cNvPr id="5" name="Picture 4" descr="dataset_snapshot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4846320"/>
            <a:ext cx="39319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Bài toán: dự đoán liên kết trên đồ thị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Cho chuỗi snapshot G^1, G^2, …, G^t, dự đoán cạnh nào sẽ xuất hiện ở G^{t+1}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Khác static link prediction: phải bám đồng thời cấu trúc và thời gian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Ứng dụng: gợi ý bạn, dự đoán giao dịch tài chính, phát hiện gian lận, gợi ý nội dung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Câu hỏi cốt lõi: làm sao biểu diễn được sự tiến hóa của cấu trúc mạng?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 câu hỏi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Câu 1: Tái hiện GCN_MA (Mei &amp; Zhao 2024) có khớp số trong paper không?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Câu 2: So với baseline hiện đại (HTGN, DyGNN, EvolveGCN, DGCN), GCN_MA đứng ở đâu?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Câu 3 (trục chính): Cấu trúc tiến hóa của mạng quyết định mô hình nào thắng như thế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Sáu mạng, sáu câu chuyện tiến 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CollegeMsg: 1,899 node, 59K cạnh, 47 snapshot, unipartite — tin nhắn sinh viên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Bitcoinotc: 5,881 node, 36K cạnh, 62 snapshot, unipartite — đánh giá tin cậy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EUT: 986 node, 332K cạnh, 127 snapshot, unipartite — email tổ chức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Mooc-actions: 7,144 node, 412K cạnh, 72 snapshot, bipartite — học trực tuyến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LastFM: 1,980 node, 1.29M cạnh, 41 snapshot, bipartite — nghe nhạc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Wikipedia: 7,474 node, 110K cạnh, 42 snapshot, bipartite — chỉnh sửa wiki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Trực quan: mạng tiến hóa qua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3 dataset đại diện × 3 mốc thời gian (t=0, T/2, T)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CollegeMsg sparse-unipartite: tăng trưởng tuần tự theo học kỳ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EUT dense-unipartite: bão hòa nhanh, mọi người email lẫn nhau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LastFM dense-bipartite: tăng trưởng siêu tuyến tính (1.3M cạnh!)</a:t>
            </a:r>
          </a:p>
        </p:txBody>
      </p:sp>
      <p:pic>
        <p:nvPicPr>
          <p:cNvPr id="6" name="Picture 5" descr="dataset_snapshot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Động học của mạng theo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(a) Số cạnh per snapshot — 6 đường, log scale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(b) Mật độ ρ^t = 2 E^t / N(N-1) — 6 đường, log scale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LastFM tăng dốc, CollegeMsg bậc thang, EUT bão hòa sớm</a:t>
            </a:r>
          </a:p>
        </p:txBody>
      </p:sp>
      <p:pic>
        <p:nvPicPr>
          <p:cNvPr id="6" name="Picture 5" descr="edge_growth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Bản đồ 6 mạng theo 2 trục cấu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Trục X: mật độ trung bình ρ̄ (log scale)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Trục Y: degree-distribution Gini (proxy cho phân cấp)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Marker: ◆ bipartite / ● unipartite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Đây là khung phân tích → sẽ overlay winner ở Slide 18</a:t>
            </a:r>
          </a:p>
        </p:txBody>
      </p:sp>
      <p:pic>
        <p:nvPicPr>
          <p:cNvPr id="6" name="Picture 5" descr="topology_map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GCN_MA (Mei &amp; Zhao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Pipeline: A^t → NRNAE → spectral GCN(W^t) → H^t → multi-head attention → Z^t → decoder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NRNAE: Ŝ = A + β S + I với S(i,j) = |N(i) ∩ N(j)| · deg(i) · CC(i)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Cơ chế bám thời gian: W^t = LSTM(W^{t-1}) — tiến hóa qua trọng số, không qua trạng thái node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Hyperparameter cố định: β = 0.8 (grid search trên Bitcoinotc validation)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EvolveGCN-O (Pareja et al. 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Pipeline: X^t → GCN(W^t) → H^t, với W^t = GRU(W^{t-1})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Cơ chế bám thời gian: GRU tiến hóa trọng số — phiên bản tối giản của ý tưởng "evolve-the-weights"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2 lớp GRCU; dùng `nn.Embedding` thay one-hot identity để tiết kiệm RAM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Vị trí trong bức tranh: cùng họ GCN_MA, nhưng không có NRNAE và không có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HTGN (Yang et al. 2021) — đối thủ mạnh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Pipeline: X^t → HGCN trên Poincaré ball (c=1.0) → log map về Euclidean → Z^t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Thêm Hyperbolic Temporal Attention qua snapshot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Cơ chế bám thời gian: temporal attention trên không gian hyperbolic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Lý do mạnh: đa tạp cong biểu diễn cây phân cấp với độ chính xác cao hơn Euclidean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Forshadowing: top-1 hoặc top-2 ở 6/6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DyGNN (Ma et al. 2020) — bộ nhớ per-node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Pipeline: mỗi cạnh đến → GRU update memory cho cả src và dst → propagate cho neighbors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Cơ chế bám thời gian: per-node memory, event-driven thay vì snapshot-driven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Vectorized variant (vendored) thay per-edge loop để fit GPU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Lưu ý: N/A trên LastFM (OOM ở 1.3M cạnh) — sẽ hiển thị "—" trong bảng kết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DGCN (Manessi et al. 2020) — baseline đơn giản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Pipeline: GCN per snapshot → ghép embedding qua thời gian → LSTM trên trục thời gian → decoder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Cơ chế bám thời gian: LSTM trên chuỗi embedding (không phải trọng số)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WD-GCN variant: chia sẻ tham số GCN giữa các snapshot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Forshadowing: mạnh bất ngờ ở EUT, đứng top-1 (0.9847 AUC)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Tóm tắt 5 chiến lược: GCN_MA = LSTM trên W; EvolveGCN = GRU trên W; HTGN = attention + hyperbolic; DyGNN = memory per-node; DGCN = LSTM trên 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Thiết lập thực nghiệm: minh bạch và tái lập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Chia tập temporal: ~70% snapshot đầu train, ~15% val, ~15% test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Negative sampling 1:1 (mỗi cạnh dương ghép 1 cạnh âm random)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Hyperparameter: lấy paper khi có (β, c); grid-search khi paper không nêu (lr, hidden, heads, epochs)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3 seeds {42, 123, 2024}; Adam; early stopping theo val AUC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Hardware: NVIDIA RTX 3060 12GB, CUDA 12.1, PyTorch 2.4.0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Metric: AUC + AP, báo cáo mean ± std qua 3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Bảng tổng hợp 5 mô hình × 6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GCN_MA tái hiện đúng paper ở 3/6 dataset trong ±1.5 điểm AUC, 4/6 trong ±2.5 điểm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LastFM là outlier với gap ~7.5 điểm — sẽ thảo luận riêng ở Slide 19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Top-1 phân bố: HTGN (collegemsg, bitcoinotc), DyGNN (mooc, wikipedia), DGCN (eut), EvolveGCN-O (lastfm)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DyGNN×LastFM: N/A (OOM)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 sánh AUC &amp; AP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HTGN dẫn đầu hoặc top-2 ở 6/6 dataset — consistent strong baseline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DyGNN bùng nổ trên mooc-actions + wikipedia (cả 2 bipartite + dense)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GCN_MA bám sát paper nhưng tụt mạnh ở LastFM</a:t>
            </a:r>
          </a:p>
        </p:txBody>
      </p:sp>
      <p:pic>
        <p:nvPicPr>
          <p:cNvPr id="6" name="Picture 5" descr="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2766060"/>
          </a:xfrm>
          <a:prstGeom prst="rect">
            <a:avLst/>
          </a:prstGeom>
        </p:spPr>
      </p:pic>
      <p:pic>
        <p:nvPicPr>
          <p:cNvPr id="7" name="Picture 6" descr="ap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831" y="3954780"/>
            <a:ext cx="6705423" cy="2766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Ranking heatmap: ai thắng ở đâu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Trục dọc: 5 mô hình; trục ngang: 6 dataset; ô đậm = rank cao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3 điểm chú ý: HTGN top trên CollegeMsg; DyGNN top trên Wiki/Mooc; DGCN top trên EUT (hơn HTGN ~0.001)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DyGNN×LastFM masked grey (em-dash) — OOM, không so sánh được</a:t>
            </a:r>
          </a:p>
        </p:txBody>
      </p:sp>
      <p:pic>
        <p:nvPicPr>
          <p:cNvPr id="6" name="Picture 5" descr="rank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Learning curves chọn lọc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CollegeMsg (sparse, unipartite): HTGN hội tụ nhanh, GCN_MA ổn định nhưng plateau thấp hơn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Mooc-actions (dense, bipartite): DyGNN hội tụ nhanh nhất, GCN_MA bám sát top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4 dataset còn lại đặt ở Appendix A2 (sẵn sàng nếu hội đồng hỏi)</a:t>
            </a:r>
          </a:p>
        </p:txBody>
      </p:sp>
      <p:pic>
        <p:nvPicPr>
          <p:cNvPr id="6" name="Picture 5" descr="learning_curves_collegem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2766060"/>
          </a:xfrm>
          <a:prstGeom prst="rect">
            <a:avLst/>
          </a:prstGeom>
        </p:spPr>
      </p:pic>
      <p:pic>
        <p:nvPicPr>
          <p:cNvPr id="7" name="Picture 6" descr="learning_curves_mooc_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831" y="3954780"/>
            <a:ext cx="6705423" cy="2766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Diagnosis: cấu trúc tiến hóa ↔ mô hình thắng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Mệnh đề 1: Cấu trúc phân cấp ẩn → hyperbolic ăn điểm (HTGN top-1 ở CollegeMsg, Bitcoinotc)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Mệnh đề 2: Sự kiện dồn dập trên bipartite dày → bộ nhớ per-node ăn điểm (DyGNN top-1 ở Mooc-actions, Wikipedia)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Mệnh đề 3: Mạng dày không cấu trúc đặc thù → baseline đơn giản đủ tốt (DGCN top-1 ở EUT)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Cấu trúc tiến hóa là tín hiệu thiết kế — không có mô hình một-cỡ-vừa-cho-tất-cả</a:t>
            </a:r>
          </a:p>
        </p:txBody>
      </p:sp>
      <p:pic>
        <p:nvPicPr>
          <p:cNvPr id="6" name="Picture 5" descr="topology_map_2d_with_win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Nơi GCN_MA tỏa sáng và tụt hậu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Tỏa sáng: Mooc-actions gap 0.4, Wikipedia 0.5, CollegeMsg 1.4 — 3/6 trong ±1.5 điểm AUC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EUT (gap 2.1) và Bitcoinotc (gap 5.6) lệch xa hơn nhưng vẫn hợp lý qua 3 seeds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Tụt hậu: LastFM gap ~7.5 — giả thuyết NRNAE bão hòa khi mạng siêu dense (1.3M cạnh)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Thua HTGN/DyGNN ở 4/6 dataset (top-1)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β = 0.8 là validation choice, không cherry-picked</a:t>
            </a:r>
          </a:p>
        </p:txBody>
      </p:sp>
      <p:pic>
        <p:nvPicPr>
          <p:cNvPr id="6" name="Picture 5" descr="bet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Runtime &amp; trade-off: bức tranh đầy đủ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GCN_MA thuộc nhóm nhẹ (LSTM trên W, NRNAE tính 1 lần)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HTGN chậm 3–5× vì hyperbolic ops (exp_map, log_map)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DyGNN chậm nhất do per-edge update tuần tự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Bảo vệ paper gốc: GCN_MA không SOTA accuracy, nhưng là sweet spot accuracy/cost</a:t>
            </a:r>
          </a:p>
        </p:txBody>
      </p:sp>
      <p:pic>
        <p:nvPicPr>
          <p:cNvPr id="6" name="Picture 5" descr="run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Đóng góp &amp;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Đóng góp 1: Tái hiện thành công GCN_MA — 3/6 dataset trong ±1.5 điểm AUC, code mở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Đóng góp 2: Mở rộng so sánh với 4 baseline hiện đại trên cùng pipeline → fair-comparison mà paper gốc thiếu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Đóng góp 3: Khung diagnosis cấu trúc-tiến-hóa ↔ mô hình để chọn baseline phù hợp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Bài học: cấu trúc đồ thị là tín hiệu chọn mô hình; GCN_MA là sweet spot; paper gốc thiếu reproducibility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Hướng mở rộng: NRNAE + LSTM-W kết hợp với hyperbolic hoặc per-node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Xin cảm ơn —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4937631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Tên + email + tên GVHD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QR code → GitHub repo (code + reproduction-log + thesis chapter PDF)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62626"/>
                </a:solidFill>
                <a:latin typeface="Calibri"/>
              </a:rPr>
              <a:t>• Sẵn sàng nhận câu hỏi</a:t>
            </a:r>
          </a:p>
        </p:txBody>
      </p:sp>
      <p:pic>
        <p:nvPicPr>
          <p:cNvPr id="6" name="Picture 5" descr="dataset_snapshot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31" y="1097280"/>
            <a:ext cx="670542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Hyperparameter chi tiết 5 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GCN_MA: hidden=128, β=0.8, heads=4, lr=1e-3, epochs=100, early-stop patience=20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EvolveGCN-O: 2 lớp GRCU, hidden=128, lr=1e-3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HTGN: c=1.0, hidden=128, lr=1e-3, patience=20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DyGNN: memory_dim=128, lr=1e-3, vectorized variant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DGCN: 2 lớp GCN per snapshot, LSTM hidden=128, WD-GCN variant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Toàn bộ chi tiết trong `results/configs_runtime/`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A1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Learning curves còn lại</a:t>
            </a:r>
          </a:p>
        </p:txBody>
      </p:sp>
      <p:pic>
        <p:nvPicPr>
          <p:cNvPr id="5" name="Picture 4" descr="learning_curves_bitcoino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775807" cy="2788920"/>
          </a:xfrm>
          <a:prstGeom prst="rect">
            <a:avLst/>
          </a:prstGeom>
        </p:spPr>
      </p:pic>
      <p:pic>
        <p:nvPicPr>
          <p:cNvPr id="6" name="Picture 5" descr="learning_curves_e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67" y="1051560"/>
            <a:ext cx="5775807" cy="2788920"/>
          </a:xfrm>
          <a:prstGeom prst="rect">
            <a:avLst/>
          </a:prstGeom>
        </p:spPr>
      </p:pic>
      <p:pic>
        <p:nvPicPr>
          <p:cNvPr id="7" name="Picture 6" descr="learning_curves_lastf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5775807" cy="2788920"/>
          </a:xfrm>
          <a:prstGeom prst="rect">
            <a:avLst/>
          </a:prstGeom>
        </p:spPr>
      </p:pic>
      <p:pic>
        <p:nvPicPr>
          <p:cNvPr id="8" name="Picture 7" descr="learning_curves_wikiped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567" y="3931920"/>
            <a:ext cx="5775807" cy="2788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A2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Deviation chi tiết so với paper gốc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collegemsg: gap −1.44 điểm AUC (within ±1.5)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bitcoinotc: gap −5.60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eut: gap −2.14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mooc_actions: gap −0.35 (within ±1.5)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lastfm: gap −7.53 (outlier, NRNAE saturation hypothesis)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wikipedia: gap −0.46 (within ±1.5)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A3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Chi tiết NRNAE với ví dụ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Ví dụ: graph 4 node, cạnh {(1,2), (2,3), (3,1), (3,4)}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deg = [2, 2, 3, 1]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CC(1) = 1.0 (hai hàng xóm 2,3 nối nhau), CC(2)=1.0, CC(3)=0.33, CC(4)=0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AS = [2, 2, 1, 0]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S(1,2) = |\{3\}| · AS(1) = 2; tương tự cho các cặp khác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Ŝ = A + 0.8 · S +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A4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Notes triển khai khó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DyGNN OOM trên LastFM (1.3M cạnh) → bỏ dataset này khỏi run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HTGN: upstream gọi argparse khi import → workaround reset sys.argv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HTGN: hidden_initial không phải nn.Parameter → override .to() để rebuild trên target device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EvolveGCN: PyTorch 2.4 patch nâng GRCU_layers thành nn.ModuleList; restore _parameters = {}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Adjacency symmetrize để bipartite không bị triệt tiêu về zero 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A5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12054535" cy="9601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1734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Link tài nguyên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734495" cy="57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GitHub repo: [URL]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Reproduction log: docs/reproduction-log.md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Thesis chapter PDF: docs/thesis_chapter.pdf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Strengths/weaknesses analysis: docs/gcn-ma-strengths-weaknesses.pdf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Calibri"/>
              </a:rPr>
              <a:t>Slide A6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